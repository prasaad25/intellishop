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90"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34843201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Prasad Shivaji Gaware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gawareprasad00@gmail.com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E-commerce]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Intelligent Shopping Agent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970318"/>
          </a:xfrm>
          <a:prstGeom prst="rect">
            <a:avLst/>
          </a:prstGeom>
          <a:noFill/>
        </p:spPr>
        <p:txBody>
          <a:bodyPr wrap="square" rtlCol="0">
            <a:spAutoFit/>
          </a:bodyPr>
          <a:lstStyle/>
          <a:p>
            <a:pPr fontAlgn="base"/>
            <a:r>
              <a:rPr lang="en-US" b="1" dirty="0"/>
              <a:t>Problem Statement : Intelligent Shopping Agent</a:t>
            </a:r>
            <a:endParaRPr lang="en-US" dirty="0"/>
          </a:p>
          <a:p>
            <a:pPr fontAlgn="base"/>
            <a:endParaRPr lang="en-US" b="1" dirty="0"/>
          </a:p>
          <a:p>
            <a:pPr fontAlgn="base"/>
            <a:r>
              <a:rPr lang="en-US" b="1" dirty="0"/>
              <a:t>The Challenge</a:t>
            </a:r>
            <a:r>
              <a:rPr lang="en-US" dirty="0"/>
              <a:t> :</a:t>
            </a:r>
          </a:p>
          <a:p>
            <a:pPr fontAlgn="base"/>
            <a:r>
              <a:rPr lang="en-IN" dirty="0"/>
              <a:t>Online shoppers often struggle to make informed purchasing decisions due to the overwhelming number of products, inconsistent pricing across platforms, fake or biased reviews, complex technical specifications, and the time required to compare multiple options. This leads to confusion, poor buying decisions, and missed opportunities for better value.</a:t>
            </a:r>
          </a:p>
          <a:p>
            <a:pPr fontAlgn="base"/>
            <a:endParaRPr lang="en-US" dirty="0"/>
          </a:p>
          <a:p>
            <a:pPr fontAlgn="base"/>
            <a:r>
              <a:rPr lang="en-US" b="1" dirty="0"/>
              <a:t>The Objective</a:t>
            </a:r>
            <a:r>
              <a:rPr lang="en-US" dirty="0"/>
              <a:t> :</a:t>
            </a:r>
          </a:p>
          <a:p>
            <a:pPr marL="285750" indent="-285750" fontAlgn="base">
              <a:buFont typeface="Arial" panose="020B0604020202020204" pitchFamily="34" charset="0"/>
              <a:buChar char="•"/>
            </a:pPr>
            <a:r>
              <a:rPr lang="en-IN" dirty="0"/>
              <a:t>To develop an AI-powered shopping assistant that simplifies the online shopping experience.</a:t>
            </a:r>
          </a:p>
          <a:p>
            <a:pPr marL="285750" indent="-285750" fontAlgn="base">
              <a:buFont typeface="Arial" panose="020B0604020202020204" pitchFamily="34" charset="0"/>
              <a:buChar char="•"/>
            </a:pPr>
            <a:r>
              <a:rPr lang="en-IN" dirty="0"/>
              <a:t>To understand user requirements, including budget, preferences, and intended product usage.</a:t>
            </a:r>
          </a:p>
          <a:p>
            <a:pPr marL="285750" indent="-285750" fontAlgn="base">
              <a:buFont typeface="Arial" panose="020B0604020202020204" pitchFamily="34" charset="0"/>
              <a:buChar char="•"/>
            </a:pPr>
            <a:r>
              <a:rPr lang="en-IN" dirty="0"/>
              <a:t>To compare products across multiple e-commerce platforms based on price, features, specifications, ratings, and reviews.</a:t>
            </a:r>
          </a:p>
          <a:p>
            <a:pPr marL="285750" indent="-285750" fontAlgn="base">
              <a:buFont typeface="Arial" panose="020B0604020202020204" pitchFamily="34" charset="0"/>
              <a:buChar char="•"/>
            </a:pPr>
            <a:r>
              <a:rPr lang="en-IN" dirty="0"/>
              <a:t>To provide personalized and unbiased product recommendations using AI-driven analysis.</a:t>
            </a:r>
          </a:p>
          <a:p>
            <a:pPr marL="285750" indent="-285750" fontAlgn="base">
              <a:buFont typeface="Arial" panose="020B0604020202020204" pitchFamily="34" charset="0"/>
              <a:buChar char="•"/>
            </a:pPr>
            <a:r>
              <a:rPr lang="en-IN" dirty="0"/>
              <a:t>To </a:t>
            </a:r>
            <a:r>
              <a:rPr lang="en-IN" dirty="0" err="1"/>
              <a:t>analyze</a:t>
            </a:r>
            <a:r>
              <a:rPr lang="en-IN" dirty="0"/>
              <a:t> customer reviews and summarize key advantages and disadvantages of each product.</a:t>
            </a:r>
          </a:p>
          <a:p>
            <a:pPr marL="285750" indent="-285750" fontAlgn="base">
              <a:buFont typeface="Arial" panose="020B0604020202020204" pitchFamily="34" charset="0"/>
              <a:buChar char="•"/>
            </a:pPr>
            <a:r>
              <a:rPr lang="en-IN" dirty="0"/>
              <a:t>To identify the best value-for-money products and suggest suitable alternatives when needed.</a:t>
            </a:r>
          </a:p>
          <a:p>
            <a:pPr marL="285750" indent="-285750" fontAlgn="base">
              <a:buFont typeface="Arial" panose="020B0604020202020204" pitchFamily="34" charset="0"/>
              <a:buChar char="•"/>
            </a:pPr>
            <a:r>
              <a:rPr lang="en-IN" dirty="0"/>
              <a:t>To track price trends and notify users of the best time to purchase.</a:t>
            </a:r>
          </a:p>
          <a:p>
            <a:pPr marL="285750" indent="-285750" fontAlgn="base">
              <a:buFont typeface="Arial" panose="020B0604020202020204" pitchFamily="34" charset="0"/>
              <a:buChar char="•"/>
            </a:pPr>
            <a:r>
              <a:rPr lang="en-IN" dirty="0"/>
              <a:t>To reduce the time and effort required for product research and comparison.</a:t>
            </a:r>
          </a:p>
          <a:p>
            <a:pPr marL="285750" indent="-285750" fontAlgn="base">
              <a:buFont typeface="Arial" panose="020B0604020202020204" pitchFamily="34" charset="0"/>
              <a:buChar char="•"/>
            </a:pPr>
            <a:r>
              <a:rPr lang="en-IN" dirty="0"/>
              <a:t>To improve customer confidence by providing transparent explanations for every recommendation.</a:t>
            </a:r>
          </a:p>
          <a:p>
            <a:pPr marL="285750" indent="-285750" fontAlgn="base">
              <a:buFont typeface="Arial" panose="020B0604020202020204" pitchFamily="34" charset="0"/>
              <a:buChar char="•"/>
            </a:pPr>
            <a:r>
              <a:rPr lang="en-IN" dirty="0"/>
              <a:t>To enable users to make faster, smarter, and more informed purchasing decisions.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93866"/>
          </a:xfrm>
          <a:prstGeom prst="rect">
            <a:avLst/>
          </a:prstGeom>
          <a:noFill/>
        </p:spPr>
        <p:txBody>
          <a:bodyPr wrap="square" rtlCol="0">
            <a:spAutoFit/>
          </a:bodyPr>
          <a:lstStyle/>
          <a:p>
            <a:pPr fontAlgn="base"/>
            <a:endParaRPr lang="en-US" b="1" dirty="0"/>
          </a:p>
          <a:p>
            <a:r>
              <a:rPr lang="en-US" b="1" dirty="0"/>
              <a:t>Proposed Solution: AI-Powered Intelligent Shopping</a:t>
            </a:r>
          </a:p>
          <a:p>
            <a:r>
              <a:rPr lang="en-IN" b="1" dirty="0"/>
              <a:t>1. AI-Based Shopping Assistant</a:t>
            </a:r>
          </a:p>
          <a:p>
            <a:r>
              <a:rPr lang="en-IN" dirty="0"/>
              <a:t>Develop an intelligent AI agent that acts as a personal shopping assistant, understanding user requirements and providing tailored product recommendations.</a:t>
            </a:r>
          </a:p>
          <a:p>
            <a:r>
              <a:rPr lang="en-IN" b="1" dirty="0"/>
              <a:t>2. Personalized User Understanding</a:t>
            </a:r>
          </a:p>
          <a:p>
            <a:r>
              <a:rPr lang="en-IN" dirty="0"/>
              <a:t>The system collects user preferences such as budget, preferred brands, product purpose, and desired features to deliver personalized shopping experiences.</a:t>
            </a:r>
          </a:p>
          <a:p>
            <a:r>
              <a:rPr lang="en-IN" b="1" dirty="0"/>
              <a:t>3. Multi-Platform Product Search</a:t>
            </a:r>
          </a:p>
          <a:p>
            <a:r>
              <a:rPr lang="en-IN" dirty="0"/>
              <a:t>The agent searches products across multiple trusted e-commerce platforms, ensuring users have access to a wide range of options and competitive prices.</a:t>
            </a:r>
          </a:p>
          <a:p>
            <a:r>
              <a:rPr lang="en-IN" b="1" dirty="0"/>
              <a:t>4. Intelligent Product Comparison</a:t>
            </a:r>
          </a:p>
          <a:p>
            <a:r>
              <a:rPr lang="en-IN" dirty="0"/>
              <a:t>Products are compared based on price, specifications, features, ratings, customer reviews, warranty, and overall value for money, enabling informed decision-making.</a:t>
            </a:r>
          </a:p>
          <a:p>
            <a:r>
              <a:rPr lang="en-IN" b="1" dirty="0"/>
              <a:t>5. AI-Powered Review Analysis</a:t>
            </a:r>
          </a:p>
          <a:p>
            <a:r>
              <a:rPr lang="en-IN" dirty="0"/>
              <a:t>Using Natural Language Processing (NLP), the system </a:t>
            </a:r>
            <a:r>
              <a:rPr lang="en-IN" dirty="0" err="1"/>
              <a:t>analyzes</a:t>
            </a:r>
            <a:r>
              <a:rPr lang="en-IN" dirty="0"/>
              <a:t> thousands of customer reviews to summarize common advantages, disadvantages, and overall customer sentiment.</a:t>
            </a:r>
          </a:p>
          <a:p>
            <a:r>
              <a:rPr lang="en-IN" b="1" dirty="0"/>
              <a:t>6. Smart Recommendation Engine</a:t>
            </a:r>
          </a:p>
          <a:p>
            <a:r>
              <a:rPr lang="en-IN" dirty="0"/>
              <a:t>The AI ranks products according to user preferences and provides unbiased recommendations with clear explanations for why a product is the best choice.</a:t>
            </a:r>
          </a:p>
          <a:p>
            <a:r>
              <a:rPr lang="en-IN" b="1" dirty="0"/>
              <a:t>7. Price Tracking and Deal Detection</a:t>
            </a:r>
          </a:p>
          <a:p>
            <a:r>
              <a:rPr lang="en-IN" dirty="0"/>
              <a:t>The system monitors price changes, identifies discounts and offers, and helps users determine the best time to purchase a product.</a:t>
            </a:r>
          </a:p>
          <a:p>
            <a:r>
              <a:rPr lang="en-IN" b="1" dirty="0"/>
              <a:t>8. Alternative Product Suggestions</a:t>
            </a:r>
          </a:p>
          <a:p>
            <a:r>
              <a:rPr lang="en-IN" dirty="0"/>
              <a:t>If a product is unavailable, overpriced, or not the best fit, the agent recommends similar or better alternatives based on performance and value.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Shopping Agent efficiently. IBM Cloud enables a </a:t>
            </a:r>
            <a:r>
              <a:rPr lang="en-US" sz="1800" b="1" dirty="0"/>
              <a:t>reliable, secure, and scalable environment</a:t>
            </a:r>
            <a:r>
              <a:rPr lang="en-US" sz="1800" dirty="0"/>
              <a:t> for deploying the Shopping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Shopping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product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964310" y="36895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857999" y="1169533"/>
            <a:ext cx="8823960" cy="6986528"/>
          </a:xfrm>
          <a:prstGeom prst="rect">
            <a:avLst/>
          </a:prstGeom>
          <a:noFill/>
        </p:spPr>
        <p:txBody>
          <a:bodyPr wrap="square" rtlCol="0">
            <a:spAutoFit/>
          </a:bodyPr>
          <a:lstStyle/>
          <a:p>
            <a:endParaRPr lang="en-US" dirty="0"/>
          </a:p>
          <a:p>
            <a:r>
              <a:rPr lang="en-IN" b="1" dirty="0" err="1"/>
              <a:t>Langflow</a:t>
            </a:r>
            <a:r>
              <a:rPr lang="en-IN" b="1" dirty="0"/>
              <a:t> Components Used</a:t>
            </a:r>
          </a:p>
          <a:p>
            <a:r>
              <a:rPr lang="en-IN" b="1" dirty="0"/>
              <a:t>1. Chat Input</a:t>
            </a:r>
          </a:p>
          <a:p>
            <a:r>
              <a:rPr lang="en-IN" dirty="0"/>
              <a:t>Receives the user's shopping query, preferences, budget, and product requirements.</a:t>
            </a:r>
          </a:p>
          <a:p>
            <a:r>
              <a:rPr lang="en-IN" b="1" dirty="0"/>
              <a:t>2. Prompt Template</a:t>
            </a:r>
          </a:p>
          <a:p>
            <a:r>
              <a:rPr lang="en-IN" dirty="0"/>
              <a:t>Structures the user's input into a well-defined prompt, guiding the AI to perform product search, comparison, and recommendation tasks.</a:t>
            </a:r>
          </a:p>
          <a:p>
            <a:r>
              <a:rPr lang="en-IN" b="1" dirty="0"/>
              <a:t>3. Large Language Model (LLM)</a:t>
            </a:r>
          </a:p>
          <a:p>
            <a:r>
              <a:rPr lang="en-IN" dirty="0"/>
              <a:t>Processes user requests, understands intent, </a:t>
            </a:r>
            <a:r>
              <a:rPr lang="en-IN" dirty="0" err="1"/>
              <a:t>analyzes</a:t>
            </a:r>
            <a:r>
              <a:rPr lang="en-IN" dirty="0"/>
              <a:t> product information, compares options, and generates personalized recommendations with explanations.</a:t>
            </a:r>
          </a:p>
          <a:p>
            <a:r>
              <a:rPr lang="en-IN" b="1" dirty="0"/>
              <a:t>\5. API / Tool Components</a:t>
            </a:r>
          </a:p>
          <a:p>
            <a:r>
              <a:rPr lang="en-IN" dirty="0"/>
              <a:t>Connects to external APIs such as e-commerce platforms, price trackers, or product databases to retrieve real-time product information, pricing, specifications, and reviews.</a:t>
            </a:r>
          </a:p>
          <a:p>
            <a:r>
              <a:rPr lang="en-IN" b="1" dirty="0"/>
              <a:t>6. Data Parser</a:t>
            </a:r>
          </a:p>
          <a:p>
            <a:r>
              <a:rPr lang="en-IN" dirty="0"/>
              <a:t>Extracts and organizes product data into a structured format for accurate comparison and analysis.</a:t>
            </a:r>
          </a:p>
          <a:p>
            <a:r>
              <a:rPr lang="en-IN" b="1" dirty="0"/>
              <a:t>8. Recommendation Engine</a:t>
            </a:r>
          </a:p>
          <a:p>
            <a:r>
              <a:rPr lang="en-IN" dirty="0"/>
              <a:t>Ranks products based on multiple factors including price, features, ratings, reviews, and user preferences to identify the best options.</a:t>
            </a:r>
          </a:p>
          <a:p>
            <a:r>
              <a:rPr lang="en-IN" b="1" dirty="0"/>
              <a:t>9. Output Parser</a:t>
            </a:r>
          </a:p>
          <a:p>
            <a:r>
              <a:rPr lang="en-IN" dirty="0"/>
              <a:t>Formats the AI-generated response into a clear and user-friendly comparison table, summary, or recommendation.</a:t>
            </a:r>
          </a:p>
          <a:p>
            <a:r>
              <a:rPr lang="en-IN" b="1" dirty="0"/>
              <a:t>10. Chat Output</a:t>
            </a:r>
          </a:p>
          <a:p>
            <a:r>
              <a:rPr lang="en-IN" dirty="0"/>
              <a:t>Displays the final recommendations, product comparisons, review summaries, price insights, and purchasing suggestions to the user.</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B80EF4A0-4AFC-1F60-CDD3-F0E98142808B}"/>
              </a:ext>
            </a:extLst>
          </p:cNvPr>
          <p:cNvPicPr>
            <a:picLocks noChangeAspect="1"/>
          </p:cNvPicPr>
          <p:nvPr/>
        </p:nvPicPr>
        <p:blipFill>
          <a:blip r:embed="rId3"/>
          <a:stretch>
            <a:fillRect/>
          </a:stretch>
        </p:blipFill>
        <p:spPr>
          <a:xfrm>
            <a:off x="992778" y="771747"/>
            <a:ext cx="9413965" cy="57541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IN" dirty="0"/>
              <a:t>Agentic AI serves as the core intelligence of the shopping assistant by autonomously understanding user requirements, planning the shopping workflow, and executing tasks without constant user intervention. Unlike traditional chatbots, the Agentic AI can reason, make decisions, utilize multiple tools, and adapt its actions based on the user's preferences and real-time product data.</a:t>
            </a:r>
          </a:p>
          <a:p>
            <a:r>
              <a:rPr lang="en-IN" b="1" dirty="0"/>
              <a:t>Key Roles of Agentic AI</a:t>
            </a:r>
          </a:p>
          <a:p>
            <a:r>
              <a:rPr lang="en-IN" b="1" dirty="0"/>
              <a:t>Understands User Intent:</a:t>
            </a:r>
            <a:r>
              <a:rPr lang="en-IN" dirty="0"/>
              <a:t> Interprets natural language queries to identify the user's needs, budget, preferences, and shopping goals.</a:t>
            </a:r>
          </a:p>
          <a:p>
            <a:r>
              <a:rPr lang="en-IN" b="1" dirty="0"/>
              <a:t>Autonomous Product Discovery:</a:t>
            </a:r>
            <a:r>
              <a:rPr lang="en-IN" dirty="0"/>
              <a:t> Searches across multiple e-commerce platforms to gather relevant product information.</a:t>
            </a:r>
          </a:p>
          <a:p>
            <a:r>
              <a:rPr lang="en-IN" b="1" dirty="0"/>
              <a:t>Intelligent Decision-Making:</a:t>
            </a:r>
            <a:r>
              <a:rPr lang="en-IN" dirty="0"/>
              <a:t> Evaluates products based on price, specifications, ratings, reviews, and value for money.</a:t>
            </a:r>
          </a:p>
          <a:p>
            <a:r>
              <a:rPr lang="en-IN" b="1" dirty="0"/>
              <a:t>Multi-Tool Orchestration:</a:t>
            </a:r>
            <a:r>
              <a:rPr lang="en-IN" dirty="0"/>
              <a:t> Coordinates APIs, search tools, price trackers, and review </a:t>
            </a:r>
            <a:r>
              <a:rPr lang="en-IN" dirty="0" err="1"/>
              <a:t>analyzers</a:t>
            </a:r>
            <a:r>
              <a:rPr lang="en-IN" dirty="0"/>
              <a:t> to collect and process data efficiently.</a:t>
            </a:r>
          </a:p>
          <a:p>
            <a:r>
              <a:rPr lang="en-IN" b="1" dirty="0"/>
              <a:t>Personalized Recommendations:</a:t>
            </a:r>
            <a:r>
              <a:rPr lang="en-IN" dirty="0"/>
              <a:t> Generates customized product suggestions based on user preferences and previous interactions.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1010245"/>
            <a:ext cx="11301984" cy="5847755"/>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Novelty and Uniqueness</a:t>
            </a:r>
          </a:p>
          <a:p>
            <a:r>
              <a:rPr lang="en-IN" sz="1800" dirty="0"/>
              <a:t>The proposed </a:t>
            </a:r>
            <a:r>
              <a:rPr lang="en-IN" sz="1800" b="1" dirty="0"/>
              <a:t>AI-Powered Intelligent Shopping Agent</a:t>
            </a:r>
            <a:r>
              <a:rPr lang="en-IN" sz="1800" dirty="0"/>
              <a:t> goes beyond traditional shopping assistants by combining </a:t>
            </a:r>
            <a:r>
              <a:rPr lang="en-IN" sz="1800" b="1" dirty="0"/>
              <a:t>Agentic AI, multi-platform product comparison, and intelligent decision-making</a:t>
            </a:r>
            <a:r>
              <a:rPr lang="en-IN" sz="1800" dirty="0"/>
              <a:t> into a single solution. Instead of simply displaying products, the system autonomously understands user intent, plans the shopping process, gathers information from multiple sources, </a:t>
            </a:r>
            <a:r>
              <a:rPr lang="en-IN" sz="1800" dirty="0" err="1"/>
              <a:t>analyzes</a:t>
            </a:r>
            <a:r>
              <a:rPr lang="en-IN" sz="1800" dirty="0"/>
              <a:t> product reviews and pricing, and provides personalized recommendations with clear reasoning.</a:t>
            </a:r>
          </a:p>
          <a:p>
            <a:r>
              <a:rPr lang="en-IN" sz="1800" b="1" dirty="0"/>
              <a:t>Key Novel Features</a:t>
            </a:r>
          </a:p>
          <a:p>
            <a:r>
              <a:rPr lang="en-IN" sz="1800" b="1" dirty="0"/>
              <a:t>Agentic AI-Based Decision Making:</a:t>
            </a:r>
            <a:r>
              <a:rPr lang="en-IN" sz="1800" dirty="0"/>
              <a:t> Performs autonomous reasoning, planning, and task execution instead of responding with predefined answers.</a:t>
            </a:r>
          </a:p>
          <a:p>
            <a:r>
              <a:rPr lang="en-IN" sz="1800" b="1" dirty="0"/>
              <a:t>Multi-Platform Product Intelligence:</a:t>
            </a:r>
            <a:r>
              <a:rPr lang="en-IN" sz="1800" dirty="0"/>
              <a:t> Compares products across multiple e-commerce platforms in one place.</a:t>
            </a:r>
          </a:p>
          <a:p>
            <a:r>
              <a:rPr lang="en-IN" sz="1800" b="1" dirty="0"/>
              <a:t>Personalized Recommendations:</a:t>
            </a:r>
            <a:r>
              <a:rPr lang="en-IN" sz="1800" dirty="0"/>
              <a:t> Tailors suggestions based on user preferences, budget, and shopping history.</a:t>
            </a:r>
          </a:p>
          <a:p>
            <a:r>
              <a:rPr lang="en-IN" sz="1800" b="1" dirty="0"/>
              <a:t>AI Review &amp; Sentiment Analysis:</a:t>
            </a:r>
            <a:r>
              <a:rPr lang="en-IN" sz="1800" dirty="0"/>
              <a:t> Summarizes thousands of customer reviews to identify genuine pros, cons, and overall sentiment.</a:t>
            </a:r>
          </a:p>
          <a:p>
            <a:r>
              <a:rPr lang="en-IN" sz="1800" b="1" dirty="0"/>
              <a:t>Real-Time Price Intelligence:</a:t>
            </a:r>
            <a:r>
              <a:rPr lang="en-IN" sz="1800" dirty="0"/>
              <a:t> Tracks price changes, detects deals, and recommends the best time to buy.</a:t>
            </a:r>
          </a:p>
          <a:p>
            <a:r>
              <a:rPr lang="en-IN" sz="1800" b="1" dirty="0"/>
              <a:t>Explainable Recommendations:</a:t>
            </a:r>
            <a:r>
              <a:rPr lang="en-IN" sz="1800" dirty="0"/>
              <a:t> Clearly explains why a product is recommended and highlights trade-offs.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Future Scope</a:t>
            </a:r>
          </a:p>
          <a:p>
            <a:r>
              <a:rPr lang="en-IN" sz="2000" dirty="0"/>
              <a:t>The proposed AI-Powered Intelligent Shopping Agent can be further enhanced with advanced features to improve user experience and expand its capabilities.</a:t>
            </a:r>
          </a:p>
          <a:p>
            <a:r>
              <a:rPr lang="en-IN" sz="2000" b="1" dirty="0"/>
              <a:t>Future Enhancements</a:t>
            </a:r>
          </a:p>
          <a:p>
            <a:r>
              <a:rPr lang="en-IN" sz="2000" b="1" dirty="0"/>
              <a:t>Voice-Based Shopping Assistant:</a:t>
            </a:r>
            <a:r>
              <a:rPr lang="en-IN" sz="2000" dirty="0"/>
              <a:t> Enable users to search and compare products using voice commands.</a:t>
            </a:r>
          </a:p>
          <a:p>
            <a:r>
              <a:rPr lang="en-IN" sz="2000" b="1" dirty="0"/>
              <a:t>Image-Based Product Search:</a:t>
            </a:r>
            <a:r>
              <a:rPr lang="en-IN" sz="2000" dirty="0"/>
              <a:t> Allow users to upload product images to find visually similar items across multiple platforms.</a:t>
            </a:r>
          </a:p>
          <a:p>
            <a:r>
              <a:rPr lang="en-IN" sz="2000" b="1" dirty="0"/>
              <a:t>AR/VR Shopping Experience:</a:t>
            </a:r>
            <a:r>
              <a:rPr lang="en-IN" sz="2000" dirty="0"/>
              <a:t> Integrate Augmented Reality (AR) and Virtual Reality (VR) for virtual product visualization and try-on experiences.</a:t>
            </a:r>
          </a:p>
          <a:p>
            <a:r>
              <a:rPr lang="en-IN" sz="2000" b="1" dirty="0"/>
              <a:t>Predictive Price Forecasting:</a:t>
            </a:r>
            <a:r>
              <a:rPr lang="en-IN" sz="2000" dirty="0"/>
              <a:t> Use AI models to accurately predict future price trends and recommend the optimal time to purchase.</a:t>
            </a:r>
          </a:p>
          <a:p>
            <a:r>
              <a:rPr lang="en-IN" sz="2000" b="1" dirty="0"/>
              <a:t>Personalized Shopping Assistant:</a:t>
            </a:r>
            <a:r>
              <a:rPr lang="en-IN" sz="2000" dirty="0"/>
              <a:t> Continuously learn user preferences and provide highly customized recommendations.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9" name="Picture 8">
            <a:extLst>
              <a:ext uri="{FF2B5EF4-FFF2-40B4-BE49-F238E27FC236}">
                <a16:creationId xmlns:a16="http://schemas.microsoft.com/office/drawing/2014/main" id="{3485CE3A-A742-EF6C-6386-C6A517337B77}"/>
              </a:ext>
            </a:extLst>
          </p:cNvPr>
          <p:cNvPicPr>
            <a:picLocks noChangeAspect="1"/>
          </p:cNvPicPr>
          <p:nvPr/>
        </p:nvPicPr>
        <p:blipFill>
          <a:blip r:embed="rId2"/>
          <a:stretch>
            <a:fillRect/>
          </a:stretch>
        </p:blipFill>
        <p:spPr>
          <a:xfrm>
            <a:off x="1944396" y="1213281"/>
            <a:ext cx="7780694" cy="547787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D6557-9E70-829A-827A-F2A4E94B1DD8}"/>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B23643E6-7CD7-8FE0-A21C-EF25FF1C8E08}"/>
              </a:ext>
            </a:extLst>
          </p:cNvPr>
          <p:cNvSpPr>
            <a:spLocks noGrp="1"/>
          </p:cNvSpPr>
          <p:nvPr>
            <p:ph type="body" idx="1"/>
          </p:nvPr>
        </p:nvSpPr>
        <p:spPr/>
        <p:txBody>
          <a:bodyPr/>
          <a:lstStyle/>
          <a:p>
            <a:endParaRPr lang="en-IN"/>
          </a:p>
        </p:txBody>
      </p:sp>
      <p:pic>
        <p:nvPicPr>
          <p:cNvPr id="8" name="Picture 7">
            <a:extLst>
              <a:ext uri="{FF2B5EF4-FFF2-40B4-BE49-F238E27FC236}">
                <a16:creationId xmlns:a16="http://schemas.microsoft.com/office/drawing/2014/main" id="{129CA36B-B9F3-0614-0A5C-DF34FF358E57}"/>
              </a:ext>
            </a:extLst>
          </p:cNvPr>
          <p:cNvPicPr>
            <a:picLocks noChangeAspect="1"/>
          </p:cNvPicPr>
          <p:nvPr/>
        </p:nvPicPr>
        <p:blipFill>
          <a:blip r:embed="rId2"/>
          <a:stretch>
            <a:fillRect/>
          </a:stretch>
        </p:blipFill>
        <p:spPr>
          <a:xfrm>
            <a:off x="2102774" y="395977"/>
            <a:ext cx="7986452" cy="6066046"/>
          </a:xfrm>
          <a:prstGeom prst="rect">
            <a:avLst/>
          </a:prstGeom>
        </p:spPr>
      </p:pic>
    </p:spTree>
    <p:extLst>
      <p:ext uri="{BB962C8B-B14F-4D97-AF65-F5344CB8AC3E}">
        <p14:creationId xmlns:p14="http://schemas.microsoft.com/office/powerpoint/2010/main" val="2388867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8AD29DDB-E39B-BEA3-720A-8CBE0C3EB906}"/>
              </a:ext>
            </a:extLst>
          </p:cNvPr>
          <p:cNvPicPr>
            <a:picLocks noChangeAspect="1"/>
          </p:cNvPicPr>
          <p:nvPr/>
        </p:nvPicPr>
        <p:blipFill>
          <a:blip r:embed="rId2"/>
          <a:stretch>
            <a:fillRect/>
          </a:stretch>
        </p:blipFill>
        <p:spPr>
          <a:xfrm>
            <a:off x="811072" y="1200580"/>
            <a:ext cx="9674048" cy="536051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1513</Words>
  <Application>Microsoft Office PowerPoint</Application>
  <PresentationFormat>Widescreen</PresentationFormat>
  <Paragraphs>145</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Prasad Gaware</cp:lastModifiedBy>
  <cp:revision>15</cp:revision>
  <dcterms:created xsi:type="dcterms:W3CDTF">2025-07-08T05:06:56Z</dcterms:created>
  <dcterms:modified xsi:type="dcterms:W3CDTF">2026-07-14T14:38:27Z</dcterms:modified>
</cp:coreProperties>
</file>